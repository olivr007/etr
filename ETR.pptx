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5"/>
  </p:notesMasterIdLst>
  <p:sldIdLst>
    <p:sldId id="278" r:id="rId5"/>
    <p:sldId id="281" r:id="rId6"/>
    <p:sldId id="280" r:id="rId7"/>
    <p:sldId id="282" r:id="rId8"/>
    <p:sldId id="283" r:id="rId9"/>
    <p:sldId id="284" r:id="rId10"/>
    <p:sldId id="285" r:id="rId11"/>
    <p:sldId id="286" r:id="rId12"/>
    <p:sldId id="288" r:id="rId13"/>
    <p:sldId id="289" r:id="rId14"/>
    <p:sldId id="279" r:id="rId15"/>
    <p:sldId id="290" r:id="rId16"/>
    <p:sldId id="291" r:id="rId17"/>
    <p:sldId id="295" r:id="rId18"/>
    <p:sldId id="294" r:id="rId19"/>
    <p:sldId id="300" r:id="rId20"/>
    <p:sldId id="301" r:id="rId21"/>
    <p:sldId id="298" r:id="rId22"/>
    <p:sldId id="293" r:id="rId23"/>
    <p:sldId id="304" r:id="rId24"/>
    <p:sldId id="292" r:id="rId25"/>
    <p:sldId id="302" r:id="rId26"/>
    <p:sldId id="303" r:id="rId27"/>
    <p:sldId id="306" r:id="rId28"/>
    <p:sldId id="307" r:id="rId29"/>
    <p:sldId id="311" r:id="rId30"/>
    <p:sldId id="308" r:id="rId31"/>
    <p:sldId id="309" r:id="rId32"/>
    <p:sldId id="310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DC54-098D-3437-66C4-2C33C3F1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34499-7EB9-FC40-1348-8BC98D460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4BB71-B137-E2F9-0488-2737E99C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DC2EE-9B5B-5913-6782-BF3736676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39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6E13-9E83-2D70-5770-18CA696A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217D1-F777-122A-3231-3336844E7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B3F15-C7E5-A451-1DD7-F4DF8A3AE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970B8-80F8-5C18-8EC3-A70695F11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337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C3C9-210B-852A-987D-85684863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61B77-1E5F-E055-353D-79B065537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A4FE8-6069-DC2B-E787-44F7A6BE9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BB112-1B4B-C3D2-1251-B9F353D4D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39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anchor="t">
            <a:normAutofit/>
          </a:bodyPr>
          <a:lstStyle/>
          <a:p>
            <a:r>
              <a:rPr lang="en-US" sz="9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</a:t>
            </a:r>
            <a:endParaRPr lang="en-US" sz="9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Varga Olivér  ·  Tóth Balázs</a:t>
            </a: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CE6DB93-FD7B-FDD9-64B7-9625B4AD6DA2}"/>
              </a:ext>
            </a:extLst>
          </p:cNvPr>
          <p:cNvSpPr/>
          <p:nvPr/>
        </p:nvSpPr>
        <p:spPr>
          <a:xfrm>
            <a:off x="7455876" y="3004500"/>
            <a:ext cx="3383280" cy="115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Elektronikus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Tanulmányi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Rendszer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DCDB4D-1E0A-FDA1-EB6F-D5F6899B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64207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09D8BB-CCD6-0D96-16E4-67068494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4F9948-AACA-8AE7-D81D-C4C5A1EB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072477" cy="417195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alapötlet</a:t>
            </a:r>
            <a:endParaRPr lang="en-US" sz="28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690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meglévő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tanulmányi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élményt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nyújtott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DD60AFF6-91DE-5A26-1D1E-5309FA672176}"/>
              </a:ext>
            </a:extLst>
          </p:cNvPr>
          <p:cNvSpPr txBox="1">
            <a:spLocks/>
          </p:cNvSpPr>
          <p:nvPr/>
        </p:nvSpPr>
        <p:spPr>
          <a:xfrm>
            <a:off x="6195080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készítettünk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digitálisan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papíron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adatait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után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helyen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elérhető</a:t>
            </a:r>
            <a:endParaRPr lang="en-US" sz="2400" dirty="0">
              <a:solidFill>
                <a:schemeClr val="tx1"/>
              </a:solidFill>
            </a:endParaRPr>
          </a:p>
          <a:p>
            <a:pPr marL="36900" indent="0">
              <a:buFont typeface="Wingdings 2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2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6C9A-79B2-E5B6-E629-8E6F6AFE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41661F-C54A-6156-007D-40552CD4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" y="189738"/>
            <a:ext cx="4871309" cy="1257300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2F745C-86D1-57B4-AA84-7BEFB30A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69" y="2218563"/>
            <a:ext cx="5072477" cy="3092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 volt a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olyan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beír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jegyet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akkor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azonnal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köztes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lépés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627B687-8252-2966-62CE-2A90CF8E5306}"/>
              </a:ext>
            </a:extLst>
          </p:cNvPr>
          <p:cNvSpPr txBox="1">
            <a:spLocks/>
          </p:cNvSpPr>
          <p:nvPr/>
        </p:nvSpPr>
        <p:spPr>
          <a:xfrm>
            <a:off x="6096000" y="336042"/>
            <a:ext cx="5072477" cy="30929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Kinek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Diákoknak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tanároknak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titkároknak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munkaköréhez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kapcsolódik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C7D7DEF2-CDAB-8828-C70B-5B28B792F53F}"/>
              </a:ext>
            </a:extLst>
          </p:cNvPr>
          <p:cNvSpPr txBox="1">
            <a:spLocks/>
          </p:cNvSpPr>
          <p:nvPr/>
        </p:nvSpPr>
        <p:spPr>
          <a:xfrm>
            <a:off x="6096000" y="3765042"/>
            <a:ext cx="4871309" cy="30929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tároljuk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szövegként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hash +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titkosított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715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3FC9-F523-FB17-10B8-F6156DA9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F44A39-F1BC-82BD-8B28-08F72971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Használt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technológiák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76472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90BC-8590-B57D-14DA-E4C46266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07DBD2-3079-C3FC-F01A-B520AB47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Használt</a:t>
            </a: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technológiák</a:t>
            </a:r>
            <a:endParaRPr lang="en-US" sz="54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CE7454-0A67-441E-CB06-0BD0AB26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48" y="2076450"/>
            <a:ext cx="4293128" cy="417195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Node.js</a:t>
            </a:r>
            <a:endParaRPr lang="en-US" sz="3600" b="1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EJS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🐬  MySQL- MariaDB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7C2D178C-A8BC-16C6-3493-8E367C461E59}"/>
              </a:ext>
            </a:extLst>
          </p:cNvPr>
          <p:cNvSpPr txBox="1">
            <a:spLocks/>
          </p:cNvSpPr>
          <p:nvPr/>
        </p:nvSpPr>
        <p:spPr>
          <a:xfrm>
            <a:off x="5841512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Express.js v5</a:t>
            </a:r>
            <a:endParaRPr lang="en-US" sz="3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Prisma ORM v6</a:t>
            </a:r>
            <a:endParaRPr lang="en-US" sz="3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r>
              <a:rPr lang="en-US" sz="36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iron-session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034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F587-290F-8D9B-9EFB-8E8E84BC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BBBB8F-0117-92FB-983D-C8864F56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mappastruktúra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1550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E9B3-1B3A-FFC7-B0F2-E655A8B8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9780E4-809C-211D-A64B-4967CFBA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mappastruktúra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5F0A18-A23A-1A97-09E7-69FFFFCE2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072477" cy="4171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Mappastruktúra</a:t>
            </a:r>
            <a:endParaRPr lang="en-US" sz="3200" b="1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routes/middleware/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routes/helpers/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r>
              <a:rPr lang="en-US" sz="2400" b="1" u="sng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</a:t>
            </a:r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400" u="sng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868F152D-7F32-E1B4-8CF9-662DEB6A929B}"/>
              </a:ext>
            </a:extLst>
          </p:cNvPr>
          <p:cNvSpPr txBox="1">
            <a:spLocks/>
          </p:cNvSpPr>
          <p:nvPr/>
        </p:nvSpPr>
        <p:spPr>
          <a:xfrm>
            <a:off x="6195080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4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</a:t>
            </a: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struktúra</a:t>
            </a:r>
            <a:endParaRPr lang="en-US" sz="2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/admin/*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/teacher/*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/student/*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/messages/*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71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E551-5C6B-3506-9E55-8B322E0E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D0D139-3E2D-9CD2-4B71-0B1C8CB3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kezelés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522796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458B-DBAF-9DF8-881B-73B746A8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693282-8B98-C450-CA91-A9532299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0144"/>
            <a:ext cx="5425440" cy="12573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kezelés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49F40B-7AF7-F549-7448-3E7FE2708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43" y="2109216"/>
            <a:ext cx="5072477" cy="4358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 cookie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  <a:endParaRPr lang="en-US" sz="2400" b="1" dirty="0">
              <a:solidFill>
                <a:schemeClr val="tx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indent="-342900"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session_student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session_teacher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session_admin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0017E457-0830-FFD4-CC5E-1C43535FF845}"/>
              </a:ext>
            </a:extLst>
          </p:cNvPr>
          <p:cNvSpPr txBox="1">
            <a:spLocks/>
          </p:cNvSpPr>
          <p:nvPr/>
        </p:nvSpPr>
        <p:spPr>
          <a:xfrm>
            <a:off x="6096000" y="390144"/>
            <a:ext cx="5072477" cy="607771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</a:t>
            </a: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működik</a:t>
            </a: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Kérés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érkezik</a:t>
            </a:r>
            <a:endParaRPr lang="en-US" sz="2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vizsgálat</a:t>
            </a:r>
            <a:endParaRPr lang="en-US" sz="2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betöltése</a:t>
            </a:r>
            <a:endParaRPr lang="en-US" sz="2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Hozzáférés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tiltás</a:t>
            </a:r>
            <a:endParaRPr lang="en-US" sz="5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844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b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Webalapú</a:t>
            </a:r>
            <a:r>
              <a:rPr lang="en-US" sz="32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</a:t>
            </a:r>
            <a:br>
              <a:rPr lang="en-US" sz="3200" u="sng" dirty="0">
                <a:solidFill>
                  <a:schemeClr val="bg1"/>
                </a:solidFill>
              </a:rPr>
            </a:b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adminisztrációs</a:t>
            </a:r>
            <a:r>
              <a:rPr lang="en-US" sz="32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1247223"/>
            <a:ext cx="4913065" cy="405875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24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átlagok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értékelések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Házi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beadó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Üzenetküldés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között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8D3F-7666-70EA-B42B-394CB3F8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DF8674-8869-13C4-4E82-B948E789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830544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D732-4CD8-AE08-DDED-47A4CE62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5A9052-9C4C-7037-6667-699208A7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52" y="189738"/>
            <a:ext cx="4871309" cy="12573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2AFFAE-2601-38B6-AFF4-220ED5DE6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69" y="2218563"/>
            <a:ext cx="5072477" cy="309295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endParaRPr lang="en-US" sz="2800" dirty="0"/>
          </a:p>
          <a:p>
            <a:pPr indent="-342900">
              <a:lnSpc>
                <a:spcPct val="135000"/>
              </a:lnSpc>
            </a:pP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adatait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-342900">
              <a:lnSpc>
                <a:spcPct val="135000"/>
              </a:lnSpc>
            </a:pP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Pl.: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jegyeit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üzeneteit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házifeladatait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i="1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5A06D553-0C86-B56A-1157-925FA96D1519}"/>
              </a:ext>
            </a:extLst>
          </p:cNvPr>
          <p:cNvSpPr txBox="1">
            <a:spLocks/>
          </p:cNvSpPr>
          <p:nvPr/>
        </p:nvSpPr>
        <p:spPr>
          <a:xfrm>
            <a:off x="6096000" y="336042"/>
            <a:ext cx="5072477" cy="2858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endParaRPr lang="en-US" sz="2800" dirty="0"/>
          </a:p>
          <a:p>
            <a:pPr indent="-342900">
              <a:lnSpc>
                <a:spcPct val="135000"/>
              </a:lnSpc>
            </a:pP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osztályaihoz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tantárgyaihoz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van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joga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hozzáférni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máshoz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36900" indent="0">
              <a:buFont typeface="Wingdings 2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F39ED194-2655-6AAA-F18E-6A680B5E0062}"/>
              </a:ext>
            </a:extLst>
          </p:cNvPr>
          <p:cNvSpPr txBox="1">
            <a:spLocks/>
          </p:cNvSpPr>
          <p:nvPr/>
        </p:nvSpPr>
        <p:spPr>
          <a:xfrm>
            <a:off x="6096000" y="3451098"/>
            <a:ext cx="4871309" cy="307086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2800" i="1" dirty="0"/>
          </a:p>
          <a:p>
            <a:pPr indent="-342900">
              <a:lnSpc>
                <a:spcPct val="135000"/>
              </a:lnSpc>
            </a:pP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Ez a "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mindent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javítok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gomb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-342900">
              <a:lnSpc>
                <a:spcPct val="135000"/>
              </a:lnSpc>
            </a:pPr>
            <a:r>
              <a:rPr lang="en-US" sz="2400" b="1" i="1" dirty="0" err="1">
                <a:solidFill>
                  <a:schemeClr val="tx1"/>
                </a:solidFill>
                <a:effectLst/>
              </a:rPr>
              <a:t>Mindenhez</a:t>
            </a:r>
            <a:r>
              <a:rPr lang="en-US" sz="2400" b="1" i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</a:rPr>
              <a:t>joga</a:t>
            </a:r>
            <a:r>
              <a:rPr lang="en-US" sz="2400" b="1" i="1" dirty="0">
                <a:solidFill>
                  <a:schemeClr val="tx1"/>
                </a:solidFill>
                <a:effectLst/>
              </a:rPr>
              <a:t> van.</a:t>
            </a:r>
          </a:p>
        </p:txBody>
      </p:sp>
    </p:spTree>
    <p:extLst>
      <p:ext uri="{BB962C8B-B14F-4D97-AF65-F5344CB8AC3E}">
        <p14:creationId xmlns:p14="http://schemas.microsoft.com/office/powerpoint/2010/main" val="2179833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6B3B-4F2B-7D4F-8ACA-6EBF89E3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9D7213-4A3B-CC98-5E99-08BE67E0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54468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A9B81-BA8B-4518-C7B8-CBB070E7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8C5AC08-70D7-5D30-479C-B062B791B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F95DF8-D196-38C9-46A4-99CEDF6B9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EF2D178-3C98-D263-05F2-594C43C01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56B25B-B422-5FF2-6025-77691B99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56F9452-A65D-C55B-3222-644D23EF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207265"/>
            <a:ext cx="4913065" cy="6449568"/>
          </a:xfrm>
        </p:spPr>
        <p:txBody>
          <a:bodyPr anchor="ctr">
            <a:normAutofit lnSpcReduction="10000"/>
          </a:bodyPr>
          <a:lstStyle/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Első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admin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létrehozása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: node create-admin.js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futtatása</a:t>
            </a:r>
            <a:endParaRPr lang="en-US" sz="2400" b="1" dirty="0">
              <a:solidFill>
                <a:srgbClr val="FFFFFF"/>
              </a:solidFill>
              <a:effectLst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létrehozása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szerkesztése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törlése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tanévek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karbantartása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Tantárgyak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kezelése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párosítás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Rendszerszintű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áttekintése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961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142E-BCC3-64E1-3323-87B7BA93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9C3389-A103-B4C1-44BA-BC706C3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carousel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117390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60BB-97FC-CF72-383D-11B07080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D60152-94FC-68C2-627B-E524A1EF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carousel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DC9955-BE0C-6EEE-ED7E-7CADBB0BF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072477" cy="41719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Tanári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(3 </a:t>
            </a: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kártya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Legutóbbi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adott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Házi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kiadása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Legutóbbi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üzenetek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C10982E2-8D4F-291D-FA40-1E017D1E5CF1}"/>
              </a:ext>
            </a:extLst>
          </p:cNvPr>
          <p:cNvSpPr txBox="1">
            <a:spLocks/>
          </p:cNvSpPr>
          <p:nvPr/>
        </p:nvSpPr>
        <p:spPr>
          <a:xfrm>
            <a:off x="6195080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(3 </a:t>
            </a: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kártya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Legutóbbi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kapott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Kiadott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Üzenetek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38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88C6-A472-86A2-605D-6E15FE4E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46D53E-9099-FE1C-05FD-143EC96B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Tanári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801906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EE264-0D0D-1F60-2280-D8C1C093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860F881-BB61-06B2-03C5-11B3C1296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93713-435B-0888-7248-7FA6C7CFA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D12C44D-801B-37E5-E867-A5A9FAD4C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4427A1-5F40-8144-0796-090693AE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</a:t>
            </a:r>
            <a:r>
              <a:rPr lang="en-US" sz="4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413F9C-B845-6181-958E-94147F2B3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207265"/>
            <a:ext cx="4913065" cy="6449568"/>
          </a:xfrm>
        </p:spPr>
        <p:txBody>
          <a:bodyPr anchor="ctr">
            <a:normAutofit/>
          </a:bodyPr>
          <a:lstStyle/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rögzítése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típus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súly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dátum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téma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visszamenőleges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módosítása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kiadása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osztálynak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vagy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diáknak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Beadott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elfogadása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5644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91D9-20AC-20DF-C7E0-6245D5F8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54F522-CC48-1DFA-3B47-B2F04428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26659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C1340-2CC5-43F6-C243-055F0A96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F2EA032-625D-0BE7-B0A3-CD67F66C2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DBA0F-0A30-D4E7-592F-EB728288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79B073F-7F52-6A12-AF2F-BCD0788DE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A092A-F796-ECF8-9D50-8C78B857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en-US" sz="4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6B76159-0FAA-3080-C874-CBEE6756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207265"/>
            <a:ext cx="4913065" cy="6449568"/>
          </a:xfrm>
        </p:spPr>
        <p:txBody>
          <a:bodyPr anchor="ctr">
            <a:normAutofit/>
          </a:bodyPr>
          <a:lstStyle/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átlagok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tantárgyanként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Szűrés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típus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dátum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szerint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megtekintése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beadása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Üzenet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küldése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fogadása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300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694B-37CD-1829-CE5C-5215853A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F37CC8-1DD2-F784-24E2-F359977C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374832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4A9DB-393F-D7F1-BEBE-FFB7A28C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2C81DD-4E27-062D-010D-F0565521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A74DC3-9C76-0657-F841-A02320F4B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Folyamat</a:t>
            </a: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514350" indent="-51435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kiossza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feladatot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homework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submissions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sorok</a:t>
            </a:r>
            <a:endParaRPr lang="en-US" sz="3200" dirty="0">
              <a:solidFill>
                <a:schemeClr val="tx1"/>
              </a:solidFill>
            </a:endParaRPr>
          </a:p>
          <a:p>
            <a:pPr marL="514350" indent="-51435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beadja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 = submitted</a:t>
            </a:r>
            <a:endParaRPr lang="en-US" sz="3200" dirty="0">
              <a:solidFill>
                <a:schemeClr val="tx1"/>
              </a:solidFill>
            </a:endParaRPr>
          </a:p>
          <a:p>
            <a:pPr marL="514350" indent="-51435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elfogadja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status = accepted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102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4C3F-89CB-1497-6DC5-67A8B71D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F26382-2998-4CAF-39B3-80EBF22C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Prisma ORM + MySQL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052603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07D5-C92E-5960-30A9-496CB7EE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B20662-D91F-DA3A-75B3-609444CE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236"/>
            <a:ext cx="10353762" cy="1257300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Prisma ORM + MySQL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446ED1-4632-E3A3-C6F0-F60F7929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47" y="1684020"/>
            <a:ext cx="5072477" cy="480974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student_classes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teacher_subjects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7EEAF2EE-A1B6-725E-E169-CD4F63B06FD6}"/>
              </a:ext>
            </a:extLst>
          </p:cNvPr>
          <p:cNvSpPr txBox="1">
            <a:spLocks/>
          </p:cNvSpPr>
          <p:nvPr/>
        </p:nvSpPr>
        <p:spPr>
          <a:xfrm>
            <a:off x="6310132" y="1684020"/>
            <a:ext cx="5072477" cy="48097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absences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homework_submissions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42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07D5-C92E-5960-30A9-496CB7EE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B20662-D91F-DA3A-75B3-609444CE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78" y="2800350"/>
            <a:ext cx="4540648" cy="1257300"/>
          </a:xfrm>
        </p:spPr>
        <p:txBody>
          <a:bodyPr>
            <a:normAutofit fontScale="90000"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Prisma ORM + MySQL</a:t>
            </a:r>
            <a:endParaRPr lang="en-US" sz="480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1288FEF-1B90-4827-9D7C-D294BF1B6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423"/>
            <a:ext cx="4727738" cy="64251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769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8EA9-08D7-3CA5-214A-CD36B572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7D5DCC-E412-04BE-6710-53C75199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menete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897019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7F2A-2D63-52F4-588D-5C79879A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7EEE0A-A896-9357-4241-94D3A97F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menete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840C1-00E0-9845-E58D-868C7BDE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 anchor="ctr">
            <a:normAutofit/>
          </a:bodyPr>
          <a:lstStyle/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A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projekt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célja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ötlete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Tervezés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–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szerepkörök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meghatározása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Technológiai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döntések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Adatmodell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kialakítása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Fejlesztés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fázisai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Tesztelés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Telepítés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üzemeltetés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4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EEEF-04AA-7086-128D-424161E7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6E095E-7318-3A4D-2FE8-8C750FBB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Munkamegosztás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EDEC90-A96A-FE7D-0CD8-849B31CFD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 anchor="ctr">
            <a:normAutofit/>
          </a:bodyPr>
          <a:lstStyle/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Backend: Varga Olivér</a:t>
            </a:r>
          </a:p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Frontend: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Közös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munka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Adatbázis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: Tóth Balázs</a:t>
            </a:r>
          </a:p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Tesztelés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: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Közös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munka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307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E268-5CC6-66E7-616C-F0CB0B60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1BB344-7819-24CA-C8B5-B7C29B12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figyelmet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39147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{4B8A2F1B-A8E4-492A-93E9-9C491BDF395B}TFe742eee6-54b3-45e8-a03d-f3d997f9b6caf6c338c2_win32-3734725ae7e2</Template>
  <TotalTime>0</TotalTime>
  <Words>530</Words>
  <Application>Microsoft Office PowerPoint</Application>
  <PresentationFormat>Szélesvásznú</PresentationFormat>
  <Paragraphs>137</Paragraphs>
  <Slides>30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30</vt:i4>
      </vt:variant>
    </vt:vector>
  </HeadingPairs>
  <TitlesOfParts>
    <vt:vector size="37" baseType="lpstr">
      <vt:lpstr>Calibri</vt:lpstr>
      <vt:lpstr>Calibri Light</vt:lpstr>
      <vt:lpstr>Consolas</vt:lpstr>
      <vt:lpstr>Goudy Old Style</vt:lpstr>
      <vt:lpstr>Trebuchet MS</vt:lpstr>
      <vt:lpstr>Wingdings 2</vt:lpstr>
      <vt:lpstr>SlateVTI</vt:lpstr>
      <vt:lpstr>ETR</vt:lpstr>
      <vt:lpstr>Miért csináltuk?</vt:lpstr>
      <vt:lpstr>Miért csináltuk?</vt:lpstr>
      <vt:lpstr>Miért csináltuk?</vt:lpstr>
      <vt:lpstr>Használt technológiák</vt:lpstr>
      <vt:lpstr>Használt technológiák</vt:lpstr>
      <vt:lpstr>Architektúra és mappastruktúra</vt:lpstr>
      <vt:lpstr>Architektúra és mappastruktúra</vt:lpstr>
      <vt:lpstr>Session kezelés</vt:lpstr>
      <vt:lpstr>Session kezelés</vt:lpstr>
      <vt:lpstr>Webalapú iskolai adminisztrációs rendszer</vt:lpstr>
      <vt:lpstr>Ki mit lát?</vt:lpstr>
      <vt:lpstr>Ki mit lát?</vt:lpstr>
      <vt:lpstr>Admin felület</vt:lpstr>
      <vt:lpstr>⚙️  Admin</vt:lpstr>
      <vt:lpstr>Dashboard carousel rendszer</vt:lpstr>
      <vt:lpstr>Dashboard carousel rendszer</vt:lpstr>
      <vt:lpstr>Tanári felület</vt:lpstr>
      <vt:lpstr>👨‍🏫  Tanár</vt:lpstr>
      <vt:lpstr>Diák felület</vt:lpstr>
      <vt:lpstr>🎓  Diák</vt:lpstr>
      <vt:lpstr>Házi feladat rendszer</vt:lpstr>
      <vt:lpstr>Házi feladat rendszer</vt:lpstr>
      <vt:lpstr>Adatbázis – Prisma ORM + MySQL</vt:lpstr>
      <vt:lpstr>Adatbázis – Prisma ORM + MySQL</vt:lpstr>
      <vt:lpstr>Adatbázis – Prisma ORM + MySQL</vt:lpstr>
      <vt:lpstr>Fejlesztés menete</vt:lpstr>
      <vt:lpstr>Fejlesztés menete</vt:lpstr>
      <vt:lpstr>Munkamegosztás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</dc:title>
  <dc:creator>Balazs Toth</dc:creator>
  <cp:lastModifiedBy>Tóth Balázs TB.</cp:lastModifiedBy>
  <cp:revision>82</cp:revision>
  <dcterms:created xsi:type="dcterms:W3CDTF">2026-02-24T17:54:05Z</dcterms:created>
  <dcterms:modified xsi:type="dcterms:W3CDTF">2026-03-11T07:14:50Z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