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5"/>
  </p:notesMasterIdLst>
  <p:sldIdLst>
    <p:sldId id="278" r:id="rId5"/>
    <p:sldId id="279" r:id="rId6"/>
    <p:sldId id="281" r:id="rId7"/>
    <p:sldId id="280" r:id="rId8"/>
    <p:sldId id="282" r:id="rId9"/>
    <p:sldId id="283" r:id="rId10"/>
    <p:sldId id="284" r:id="rId11"/>
    <p:sldId id="285" r:id="rId12"/>
    <p:sldId id="286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29"/>
    <p:sldId id="304" r:id="rId30"/>
    <p:sldId id="305" r:id="rId31"/>
    <p:sldId id="306" r:id="rId32"/>
    <p:sldId id="307" r:id="rId33"/>
    <p:sldId id="28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19" autoAdjust="0"/>
  </p:normalViewPr>
  <p:slideViewPr>
    <p:cSldViewPr snapToGrid="0">
      <p:cViewPr varScale="1">
        <p:scale>
          <a:sx n="79" d="100"/>
          <a:sy n="79" d="100"/>
        </p:scale>
        <p:origin x="120" y="18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2/24/2026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3C3C9-210B-852A-987D-85684863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61B77-1E5F-E055-353D-79B065537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A4FE8-6069-DC2B-E787-44F7A6BE9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BB112-1B4B-C3D2-1251-B9F353D4D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3909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6E13-9E83-2D70-5770-18CA696AD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D217D1-F777-122A-3231-3336844E7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5B3F15-C7E5-A451-1DD7-F4DF8A3AE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3970B8-80F8-5C18-8EC3-A70695F11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13377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FDC54-098D-3437-66C4-2C33C3F16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34499-7EB9-FC40-1348-8BC98D460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84BB71-B137-E2F9-0488-2737E99C6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DC2EE-9B5B-5913-6782-BF3736676F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839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420504"/>
          </a:xfrm>
        </p:spPr>
        <p:txBody>
          <a:bodyPr anchor="t">
            <a:normAutofit/>
          </a:bodyPr>
          <a:lstStyle/>
          <a:p>
            <a:r>
              <a:rPr lang="en-US" sz="9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ETR</a:t>
            </a:r>
            <a:endParaRPr lang="en-US" sz="9600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965" y="4157933"/>
            <a:ext cx="3485072" cy="1026544"/>
          </a:xfrm>
        </p:spPr>
        <p:txBody>
          <a:bodyPr anchor="ctr">
            <a:normAutofit/>
          </a:bodyPr>
          <a:lstStyle/>
          <a:p>
            <a:r>
              <a:rPr lang="en-US" sz="2400" dirty="0"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Varga Olivér  ·  Tóth Balázs</a:t>
            </a:r>
            <a:endParaRPr lang="en-US" sz="24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BCE6DB93-FD7B-FDD9-64B7-9625B4AD6DA2}"/>
              </a:ext>
            </a:extLst>
          </p:cNvPr>
          <p:cNvSpPr/>
          <p:nvPr/>
        </p:nvSpPr>
        <p:spPr>
          <a:xfrm>
            <a:off x="7455876" y="3004500"/>
            <a:ext cx="3383280" cy="1153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Elektronikus</a:t>
            </a:r>
            <a:endParaRPr lang="en-US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Tanulmányi</a:t>
            </a:r>
            <a:endParaRPr lang="en-US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Rendszer</a:t>
            </a:r>
            <a:endParaRPr lang="en-US" sz="1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316" y="3276599"/>
            <a:ext cx="4538124" cy="970450"/>
          </a:xfrm>
        </p:spPr>
        <p:txBody>
          <a:bodyPr anchor="b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200" b="1" u="sng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Webalapú</a:t>
            </a:r>
            <a:r>
              <a:rPr lang="en-US" sz="3200" b="1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u="sng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iskolai</a:t>
            </a:r>
            <a:br>
              <a:rPr lang="en-US" sz="3200" u="sng" dirty="0">
                <a:solidFill>
                  <a:schemeClr val="bg1"/>
                </a:solidFill>
              </a:rPr>
            </a:br>
            <a:r>
              <a:rPr lang="en-US" sz="3200" b="1" u="sng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adminisztrációs</a:t>
            </a:r>
            <a:r>
              <a:rPr lang="en-US" sz="3200" b="1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u="sng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3200" u="sng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979" y="1247223"/>
            <a:ext cx="4913065" cy="4058751"/>
          </a:xfrm>
        </p:spPr>
        <p:txBody>
          <a:bodyPr anchor="ctr">
            <a:normAutofit fontScale="92500"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admin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2400" dirty="0">
              <a:solidFill>
                <a:srgbClr val="CBD5E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átlagok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értékelések</a:t>
            </a:r>
            <a:endParaRPr lang="en-US" sz="2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Házi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beadó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2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Hiányzáskezelés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órarend</a:t>
            </a:r>
            <a:endParaRPr lang="en-US" sz="24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Üzenetküldés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</a:t>
            </a: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között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DCDB4D-1E0A-FDA1-EB6F-D5F6899B7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csináltuk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0642075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09D8BB-CCD6-0D96-16E4-670684946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csináltuk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F4F9948-AACA-8AE7-D81D-C4C5A1EB7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5072477" cy="4171950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alapötlet</a:t>
            </a:r>
            <a:endParaRPr lang="en-US" sz="2800" b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6900" indent="0">
              <a:buNone/>
            </a:pPr>
            <a:endParaRPr lang="en-US" sz="2400" b="1" dirty="0">
              <a:solidFill>
                <a:schemeClr val="tx1"/>
              </a:solidFill>
            </a:endParaRPr>
          </a:p>
          <a:p>
            <a:pPr marL="36900" indent="0">
              <a:lnSpc>
                <a:spcPct val="150000"/>
              </a:lnSpc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ötlet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onnan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jött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jelenleg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meglévő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tanulmányi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esetek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többségében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rossz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élményt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nyújtott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DD60AFF6-91DE-5A26-1D1E-5309FA672176}"/>
              </a:ext>
            </a:extLst>
          </p:cNvPr>
          <p:cNvSpPr txBox="1">
            <a:spLocks/>
          </p:cNvSpPr>
          <p:nvPr/>
        </p:nvSpPr>
        <p:spPr>
          <a:xfrm>
            <a:off x="6195080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oldottunk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meg?</a:t>
            </a:r>
          </a:p>
          <a:p>
            <a:pPr marL="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  <a:buSzPct val="100000"/>
              <a:buChar char="•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digitálisan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papíron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  <a:buSzPct val="100000"/>
              <a:buChar char="•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Mindenki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saját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adatait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látja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  <a:buSzPct val="100000"/>
              <a:buChar char="•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Bejelentkezés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után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helyen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elérhető</a:t>
            </a:r>
            <a:endParaRPr lang="en-US" sz="2400" dirty="0">
              <a:solidFill>
                <a:schemeClr val="tx1"/>
              </a:solidFill>
            </a:endParaRPr>
          </a:p>
          <a:p>
            <a:pPr marL="36900" indent="0">
              <a:buFont typeface="Wingdings 2" charset="2"/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50259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D6C9A-79B2-E5B6-E629-8E6F6AFE4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341661F-C54A-6156-007D-40552CD40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3" y="189738"/>
            <a:ext cx="4871309" cy="1257300"/>
          </a:xfrm>
        </p:spPr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csináltuk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F2F745C-86D1-57B4-AA84-7BEFB30A5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469" y="2218563"/>
            <a:ext cx="5072477" cy="30929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Mi volt a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b="1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olyan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ahol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bead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meg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azonnal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látja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Semmi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közbülső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lépés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semmi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papír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2627B687-8252-2966-62CE-2A90CF8E5306}"/>
              </a:ext>
            </a:extLst>
          </p:cNvPr>
          <p:cNvSpPr txBox="1">
            <a:spLocks/>
          </p:cNvSpPr>
          <p:nvPr/>
        </p:nvSpPr>
        <p:spPr>
          <a:xfrm>
            <a:off x="6096000" y="336042"/>
            <a:ext cx="5072477" cy="309295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Kinek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csináltuk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Diákoknak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tanároknak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adminnak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Mindenki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látja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tartozik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elég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sokat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kellett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tesztelni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>
              <a:solidFill>
                <a:schemeClr val="tx1"/>
              </a:solidFill>
            </a:endParaRPr>
          </a:p>
          <a:p>
            <a:pPr marL="36900" indent="0">
              <a:buFont typeface="Wingdings 2" charset="2"/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C7D7DEF2-CDAB-8828-C70B-5B28B792F53F}"/>
              </a:ext>
            </a:extLst>
          </p:cNvPr>
          <p:cNvSpPr txBox="1">
            <a:spLocks/>
          </p:cNvSpPr>
          <p:nvPr/>
        </p:nvSpPr>
        <p:spPr>
          <a:xfrm>
            <a:off x="6096000" y="3765042"/>
            <a:ext cx="4871309" cy="309295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Biztonság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tároljuk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jelszót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simán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szövegként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hash +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titkosított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munkamenet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Amit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tanultunk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beleraktuk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7157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83FC9-F523-FB17-10B8-F6156DA9F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F44A39-F1BC-82BD-8B28-08F729717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Használt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technológiák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7647242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90BC-8590-B57D-14DA-E4C46266B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07DBD2-3079-C3FC-F01A-B520AB478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Használt</a:t>
            </a: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5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technológiák</a:t>
            </a:r>
            <a:endParaRPr lang="en-US" sz="54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1CE7454-0A67-441E-CB06-0BD0AB269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0848" y="2076450"/>
            <a:ext cx="4293128" cy="4171950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🟩  Node.js</a:t>
            </a:r>
            <a:endParaRPr lang="en-US" sz="3600" b="1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EJS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🐬  MySQL- MariaDB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7C2D178C-A8BC-16C6-3493-8E367C461E59}"/>
              </a:ext>
            </a:extLst>
          </p:cNvPr>
          <p:cNvSpPr txBox="1">
            <a:spLocks/>
          </p:cNvSpPr>
          <p:nvPr/>
        </p:nvSpPr>
        <p:spPr>
          <a:xfrm>
            <a:off x="5841512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🚂  Express.js v5</a:t>
            </a:r>
            <a:endParaRPr lang="en-US" sz="36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  Prisma ORM v6</a:t>
            </a:r>
            <a:endParaRPr lang="en-US" sz="36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</a:t>
            </a:r>
            <a:r>
              <a:rPr lang="en-US" sz="36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iron-session</a:t>
            </a:r>
            <a:endParaRPr 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00341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2F587-290F-8D9B-9EFB-8E8E84BC1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BBBBB8F-0117-92FB-983D-C8864F566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 fontScale="90000"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mappastruktúra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7155007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BE9B3-1B3A-FFC7-B0F2-E655A8B8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9780E4-809C-211D-A64B-4967CFBA2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Architektúra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mappastruktúra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D5F0A18-A23A-1A97-09E7-69FFFFCE2A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5072477" cy="4171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Mappastruktúra</a:t>
            </a:r>
            <a:endParaRPr lang="en-US" sz="3200" b="1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</a:t>
            </a: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routes/middleware/</a:t>
            </a:r>
            <a:endParaRPr lang="en-US" sz="2400" u="sng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routes/helpers/</a:t>
            </a:r>
            <a:endParaRPr lang="en-US" sz="2400" u="sng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views/</a:t>
            </a:r>
            <a:endParaRPr lang="en-US" sz="2400" u="sng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public/</a:t>
            </a:r>
            <a:endParaRPr lang="en-US" sz="2400" u="sng" dirty="0">
              <a:solidFill>
                <a:schemeClr val="tx1"/>
              </a:solidFill>
            </a:endParaRPr>
          </a:p>
          <a:p>
            <a:pPr indent="-342900"/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generated/</a:t>
            </a:r>
            <a:r>
              <a:rPr lang="en-US" sz="2400" b="1" u="sng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sz="2400" b="1" u="sng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2400" u="sng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868F152D-7F32-E1B4-8CF9-662DEB6A929B}"/>
              </a:ext>
            </a:extLst>
          </p:cNvPr>
          <p:cNvSpPr txBox="1">
            <a:spLocks/>
          </p:cNvSpPr>
          <p:nvPr/>
        </p:nvSpPr>
        <p:spPr>
          <a:xfrm>
            <a:off x="6195080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4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</a:t>
            </a: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struktúra</a:t>
            </a:r>
            <a:endParaRPr lang="en-US" sz="2400" b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indent="-342900">
              <a:lnSpc>
                <a:spcPct val="150000"/>
              </a:lnSpc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/admin/*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/teacher/*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/student/*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50000"/>
              </a:lnSpc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/messages/*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77104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5E551-5C6B-3506-9E55-8B322E0EE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0D0D139-3E2D-9CD2-4B71-0B1C8CB32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kezelés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5227960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D458B-DBAF-9DF8-881B-73B746A8C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693282-8B98-C450-CA91-A95322999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90144"/>
            <a:ext cx="5425440" cy="125730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kezelés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749F40B-7AF7-F549-7448-3E7FE2708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243" y="2109216"/>
            <a:ext cx="5072477" cy="43586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Három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session cookie</a:t>
            </a:r>
            <a:r>
              <a:rPr lang="en-US" sz="2800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US" sz="2400" b="1" dirty="0">
              <a:solidFill>
                <a:schemeClr val="tx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indent="-342900">
              <a:lnSpc>
                <a:spcPct val="200000"/>
              </a:lnSpc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session_student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200000"/>
              </a:lnSpc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session_teacher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200000"/>
              </a:lnSpc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session_admin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0017E457-0830-FFD4-CC5E-1C43535FF845}"/>
              </a:ext>
            </a:extLst>
          </p:cNvPr>
          <p:cNvSpPr txBox="1">
            <a:spLocks/>
          </p:cNvSpPr>
          <p:nvPr/>
        </p:nvSpPr>
        <p:spPr>
          <a:xfrm>
            <a:off x="6096000" y="390144"/>
            <a:ext cx="5072477" cy="60777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Hogyan</a:t>
            </a: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működik</a:t>
            </a: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3000" dirty="0">
              <a:solidFill>
                <a:schemeClr val="tx1"/>
              </a:solidFill>
            </a:endParaRPr>
          </a:p>
          <a:p>
            <a:pPr indent="-342900"/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middleware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megnézi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URL-t (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req.path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600" dirty="0">
              <a:solidFill>
                <a:schemeClr val="tx1"/>
              </a:solidFill>
            </a:endParaRPr>
          </a:p>
          <a:p>
            <a:pPr indent="-342900"/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/admin → admin cookie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betöltése</a:t>
            </a:r>
            <a:endParaRPr lang="en-US" sz="2600" dirty="0">
              <a:solidFill>
                <a:schemeClr val="tx1"/>
              </a:solidFill>
            </a:endParaRPr>
          </a:p>
          <a:p>
            <a:pPr marL="457200" indent="-457200"/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/teacher → teacher cookie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betöltése</a:t>
            </a:r>
            <a:endParaRPr lang="en-US" sz="2600" dirty="0">
              <a:solidFill>
                <a:schemeClr val="tx1"/>
              </a:solidFill>
            </a:endParaRPr>
          </a:p>
          <a:p>
            <a:pPr marL="457200" indent="-457200"/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Egyébként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student cookie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betöltése</a:t>
            </a:r>
            <a:endParaRPr lang="en-US" sz="2600" dirty="0">
              <a:solidFill>
                <a:schemeClr val="tx1"/>
              </a:solidFill>
            </a:endParaRPr>
          </a:p>
          <a:p>
            <a:pPr indent="-342900"/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Minden session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titkosítva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van (iron-session)</a:t>
            </a:r>
            <a:endParaRPr lang="en-US" sz="26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indent="-342900"/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Szerepkör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alapú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átirányítás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login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után</a:t>
            </a:r>
            <a:endParaRPr lang="en-US" sz="2600" dirty="0">
              <a:solidFill>
                <a:schemeClr val="tx1"/>
              </a:solidFill>
            </a:endParaRPr>
          </a:p>
          <a:p>
            <a:pPr indent="-342900"/>
            <a:endParaRPr lang="en-US" sz="2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5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8844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88D3F-7666-70EA-B42B-394CB3F89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DF8674-8869-13C4-4E82-B948E7891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8305445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D732-4CD8-AE08-DDED-47A4CE62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5A9052-9C4C-7037-6667-699208A7E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052" y="189738"/>
            <a:ext cx="4871309" cy="125730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62AFFAE-2601-38B6-AFF4-220ED5DE6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469" y="2218563"/>
            <a:ext cx="5072477" cy="309295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endParaRPr lang="en-US" sz="2800" dirty="0"/>
          </a:p>
          <a:p>
            <a:pPr indent="-342900">
              <a:lnSpc>
                <a:spcPct val="135000"/>
              </a:lnSpc>
            </a:pP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Csak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saját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adatait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látja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indent="-342900">
              <a:lnSpc>
                <a:spcPct val="135000"/>
              </a:lnSpc>
            </a:pP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Nem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tud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mást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nézni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tud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jegyet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beírni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b="1" dirty="0">
              <a:solidFill>
                <a:schemeClr val="tx1"/>
              </a:solidFill>
              <a:effectLst/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5A06D553-0C86-B56A-1157-925FA96D1519}"/>
              </a:ext>
            </a:extLst>
          </p:cNvPr>
          <p:cNvSpPr txBox="1">
            <a:spLocks/>
          </p:cNvSpPr>
          <p:nvPr/>
        </p:nvSpPr>
        <p:spPr>
          <a:xfrm>
            <a:off x="6096000" y="336042"/>
            <a:ext cx="5072477" cy="285826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 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endParaRPr lang="en-US" sz="2800" dirty="0"/>
          </a:p>
          <a:p>
            <a:pPr indent="-342900">
              <a:lnSpc>
                <a:spcPct val="135000"/>
              </a:lnSpc>
            </a:pP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saját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osztályaihoz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tantárgyaihoz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van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joga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máshoz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i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2400" b="1" i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b="1" dirty="0">
              <a:solidFill>
                <a:schemeClr val="tx1"/>
              </a:solidFill>
              <a:effectLst/>
            </a:endParaRPr>
          </a:p>
          <a:p>
            <a:pPr marL="36900" indent="0">
              <a:buFont typeface="Wingdings 2" charset="2"/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F39ED194-2655-6AAA-F18E-6A680B5E0062}"/>
              </a:ext>
            </a:extLst>
          </p:cNvPr>
          <p:cNvSpPr txBox="1">
            <a:spLocks/>
          </p:cNvSpPr>
          <p:nvPr/>
        </p:nvSpPr>
        <p:spPr>
          <a:xfrm>
            <a:off x="6096000" y="3451098"/>
            <a:ext cx="4871309" cy="30708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Admin</a:t>
            </a:r>
            <a:endParaRPr lang="en-US" sz="2800" dirty="0"/>
          </a:p>
          <a:p>
            <a:pPr indent="-342900">
              <a:lnSpc>
                <a:spcPct val="135000"/>
              </a:lnSpc>
            </a:pP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Mindent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lát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mindent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tud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szerkeszteni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 Ez a "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mindent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javítok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" </a:t>
            </a:r>
            <a:r>
              <a:rPr lang="en-US" sz="2400" b="1" dirty="0" err="1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gomb</a:t>
            </a:r>
            <a:r>
              <a:rPr lang="en-US" sz="2400" b="1" dirty="0">
                <a:solidFill>
                  <a:schemeClr val="tx1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b="1" dirty="0"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1798330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6C1340-2CC5-43F6-C243-055F0A963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F2EA032-625D-0BE7-B0A3-CD67F66C2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3DBA0F-0A30-D4E7-592F-EB7282880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F79B073F-7F52-6A12-AF2F-BCD0788DE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2A092A-F796-ECF8-9D50-8C78B857B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316" y="3276599"/>
            <a:ext cx="4538124" cy="970450"/>
          </a:xfrm>
        </p:spPr>
        <p:txBody>
          <a:bodyPr anchor="ctr">
            <a:no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</a:t>
            </a:r>
            <a:r>
              <a:rPr lang="en-US" sz="48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6B76159-0FAA-3080-C874-CBEE6756E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979" y="207265"/>
            <a:ext cx="4913065" cy="6449568"/>
          </a:xfrm>
        </p:spPr>
        <p:txBody>
          <a:bodyPr anchor="ctr">
            <a:normAutofit/>
          </a:bodyPr>
          <a:lstStyle/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Saját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átlagok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tantárgyanként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Szűrés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típus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dátum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szerint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Házi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megtekintése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beadása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Hiányzások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nyomon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követése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Üzenet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küldése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fogadása</a:t>
            </a:r>
            <a:endParaRPr lang="en-US" sz="24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63002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9EE264-0D0D-1F60-2280-D8C1C093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8860F881-BB61-06B2-03C5-11B3C1296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F93713-435B-0888-7248-7FA6C7CFA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D12C44D-801B-37E5-E867-A5A9FAD4C1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4427A1-5F40-8144-0796-090693AEE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316" y="3276599"/>
            <a:ext cx="4538124" cy="970450"/>
          </a:xfrm>
        </p:spPr>
        <p:txBody>
          <a:bodyPr anchor="ctr">
            <a:no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👨‍🏫  </a:t>
            </a:r>
            <a:r>
              <a:rPr lang="en-US" sz="48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413F9C-B845-6181-958E-94147F2B3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979" y="207265"/>
            <a:ext cx="4913065" cy="6449568"/>
          </a:xfrm>
        </p:spPr>
        <p:txBody>
          <a:bodyPr anchor="ctr">
            <a:normAutofit/>
          </a:bodyPr>
          <a:lstStyle/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Jegy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rögzítése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típus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súly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dátum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téma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visszamenőleges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módosítása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Hiányzás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rögzítése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igazolása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Házi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kiadása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osztálynak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vagy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diáknak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Beadott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elfogadása</a:t>
            </a:r>
            <a:endParaRPr lang="en-US" sz="24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856442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A9B81-BA8B-4518-C7B8-CBB070E7B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A8C5AC08-70D7-5D30-479C-B062B791B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F95DF8-D196-38C9-46A4-99CEDF6B9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2" y="10"/>
            <a:ext cx="6096000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EF2D178-3C98-D263-05F2-594C43C01A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56B25B-B422-5FF2-6025-77691B99F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316" y="3276599"/>
            <a:ext cx="4538124" cy="970450"/>
          </a:xfrm>
        </p:spPr>
        <p:txBody>
          <a:bodyPr anchor="ctr">
            <a:no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Admin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056F9452-A65D-C55B-3222-644D23EF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7979" y="207265"/>
            <a:ext cx="4913065" cy="6449568"/>
          </a:xfrm>
        </p:spPr>
        <p:txBody>
          <a:bodyPr anchor="ctr">
            <a:normAutofit/>
          </a:bodyPr>
          <a:lstStyle/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létrehozása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szerkesztése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törlése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Osztályok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tanévek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karbantartása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Tantárgyak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kódok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kezelése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Tantárgy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Osztály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párosítás</a:t>
            </a:r>
            <a:endParaRPr lang="en-US" sz="2400" b="1" dirty="0">
              <a:effectLst/>
            </a:endParaRPr>
          </a:p>
          <a:p>
            <a:pPr indent="-342900">
              <a:lnSpc>
                <a:spcPct val="150000"/>
              </a:lnSpc>
              <a:buSzPct val="100000"/>
            </a:pP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Rendszerszintű</a:t>
            </a:r>
            <a:r>
              <a:rPr lang="en-US" sz="2400" b="1" dirty="0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statisztikák</a:t>
            </a:r>
            <a:endParaRPr lang="en-US" sz="24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59610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46B3B-4F2B-7D4F-8ACA-6EBF89E38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9D7213-4A3B-CC98-5E99-08BE67E0F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554468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129D1-DA90-94F8-2813-D854DB575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617ADBB-B565-21DA-174B-C9A07E6D0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EC4E3E-064F-9B41-0FB1-8FF4D5D2B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5072477" cy="4171950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Users (</a:t>
            </a:r>
            <a:r>
              <a:rPr lang="en-US" sz="36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</a:t>
            </a: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36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admin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létrehozása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modal-ban</a:t>
            </a:r>
            <a:endParaRPr lang="en-US" sz="26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Szerepkör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(role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student / teacher / admin</a:t>
            </a:r>
            <a:endParaRPr lang="en-US" sz="26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Diáknál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automatikusan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osztály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hozzárendelés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kötelező</a:t>
            </a:r>
            <a:endParaRPr lang="en-US" sz="26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Törlés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előtt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megerősítés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kaszkád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törlés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kapcsolódó</a:t>
            </a: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adatokra</a:t>
            </a:r>
            <a:endParaRPr lang="en-US" sz="26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AB6E76A5-9D5F-7746-DECE-BF57962D93A3}"/>
              </a:ext>
            </a:extLst>
          </p:cNvPr>
          <p:cNvSpPr txBox="1">
            <a:spLocks/>
          </p:cNvSpPr>
          <p:nvPr/>
        </p:nvSpPr>
        <p:spPr>
          <a:xfrm>
            <a:off x="6195080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1200"/>
              </a:spcAft>
              <a:buNone/>
            </a:pPr>
            <a:r>
              <a:rPr lang="en-US" sz="3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Subjects (</a:t>
            </a:r>
            <a:r>
              <a:rPr lang="en-US" sz="33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Tantárgyak</a:t>
            </a:r>
            <a:r>
              <a:rPr lang="en-US" sz="3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33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Tantárgykód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subject_code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egyedi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azonosító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pl. MAT)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subject_name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credits,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is_active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description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Duplikált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ellenőrzése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automatikusan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backend-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Kapcsolódik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grades, </a:t>
            </a:r>
            <a:r>
              <a:rPr lang="en-US" sz="2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teacher_subjects</a:t>
            </a: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absences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9863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E74C6-16D0-7045-9012-AEC848A32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4C51C6-3D8D-A11D-6D93-0163BB118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F4AACD-33FE-2BFD-6E42-AF0B2810C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438656"/>
            <a:ext cx="5072477" cy="4809744"/>
          </a:xfrm>
        </p:spPr>
        <p:txBody>
          <a:bodyPr anchor="ctr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Classes (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Osztályok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8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40000"/>
              </a:lnSpc>
              <a:buSzPct val="100000"/>
            </a:pP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Osztályok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létrehozása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class_name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(pl. 9.A) +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tanév</a:t>
            </a:r>
            <a:endParaRPr lang="en-US" sz="20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40000"/>
              </a:lnSpc>
              <a:buSzPct val="100000"/>
            </a:pP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Osztályfőnök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class_teacher_id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teremszám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beállítása</a:t>
            </a:r>
            <a:endParaRPr lang="en-US" sz="20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40000"/>
              </a:lnSpc>
              <a:buSzPct val="100000"/>
            </a:pP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Kapcsolódik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student_classes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(N:M),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teacher_subjects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timetable</a:t>
            </a:r>
            <a:endParaRPr lang="en-US" sz="20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40000"/>
              </a:lnSpc>
              <a:buSzPct val="100000"/>
            </a:pP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Törléskor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kapcsolódó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sorok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mennek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(cascade delete)</a:t>
            </a:r>
            <a:endParaRPr lang="en-US" sz="2000" u="sng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7925F238-1064-C3DC-1B8D-72E429BAC7E8}"/>
              </a:ext>
            </a:extLst>
          </p:cNvPr>
          <p:cNvSpPr txBox="1">
            <a:spLocks/>
          </p:cNvSpPr>
          <p:nvPr/>
        </p:nvSpPr>
        <p:spPr>
          <a:xfrm>
            <a:off x="6195080" y="1438656"/>
            <a:ext cx="5072477" cy="48097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1200"/>
              </a:spcAft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Assignments (</a:t>
            </a:r>
            <a:r>
              <a:rPr lang="en-US" sz="3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en-US" sz="3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Tantárgy</a:t>
            </a: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párosítás</a:t>
            </a: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30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teacher_subjects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tábla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teacher_id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subject_id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class_id</a:t>
            </a:r>
            <a:endParaRPr lang="en-US" sz="22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tantárgyat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taníthat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több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osztályban</a:t>
            </a:r>
            <a:endParaRPr lang="en-US" sz="22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academic_year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mező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tanévenként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szűrhető</a:t>
            </a:r>
            <a:endParaRPr lang="en-US" sz="22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Törlés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kapcsolódó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</a:t>
            </a:r>
            <a:r>
              <a:rPr lang="en-US" sz="2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törlődnek</a:t>
            </a: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(cascade)</a:t>
            </a:r>
            <a:endParaRPr lang="en-US" sz="2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9291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88C6-A472-86A2-605D-6E15FE4EB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46D53E-9099-FE1C-05FD-143EC96BA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Tanári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8019068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6ECF5-1714-AAC2-DAED-835344C28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B9A5D45-9AA3-37FF-7764-901D2AFE9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43840"/>
            <a:ext cx="10353762" cy="1257300"/>
          </a:xfrm>
        </p:spPr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Tanári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04D844-BDB2-68CD-6A82-E4F32A49D7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01140"/>
            <a:ext cx="5072477" cy="4747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típusok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grade_type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felelet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dolgozat</a:t>
            </a:r>
            <a:endParaRPr lang="en-US" sz="2800" b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házi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42A8F635-36F7-332F-A20F-4E70F85AFB1F}"/>
              </a:ext>
            </a:extLst>
          </p:cNvPr>
          <p:cNvSpPr txBox="1">
            <a:spLocks/>
          </p:cNvSpPr>
          <p:nvPr/>
        </p:nvSpPr>
        <p:spPr>
          <a:xfrm>
            <a:off x="6195080" y="1501140"/>
            <a:ext cx="5072477" cy="47472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3600"/>
              </a:spcAft>
              <a:buNone/>
            </a:pP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Hiányzáskezelés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(absences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tábla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indent="-342900">
              <a:spcAft>
                <a:spcPts val="1200"/>
              </a:spcAft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student_id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subject_id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teacher_id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spcAft>
                <a:spcPts val="1200"/>
              </a:spcAft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absence_date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lesson_number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spcAft>
                <a:spcPts val="1200"/>
              </a:spcAft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is_excused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boolean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>
              <a:solidFill>
                <a:schemeClr val="tx1"/>
              </a:solidFill>
            </a:endParaRPr>
          </a:p>
          <a:p>
            <a:pPr indent="-342900">
              <a:spcAft>
                <a:spcPts val="1200"/>
              </a:spcAft>
            </a:pPr>
            <a:r>
              <a:rPr lang="en-US" sz="24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excuse_note</a:t>
            </a: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(text)</a:t>
            </a:r>
          </a:p>
        </p:txBody>
      </p:sp>
    </p:spTree>
    <p:extLst>
      <p:ext uri="{BB962C8B-B14F-4D97-AF65-F5344CB8AC3E}">
        <p14:creationId xmlns:p14="http://schemas.microsoft.com/office/powerpoint/2010/main" val="6352838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7142E-BCC3-64E1-3323-87B7BA930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9C3389-A103-B4C1-44BA-BC706C313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carousel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1173903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960BB-97FC-CF72-383D-11B070808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D60152-94FC-68C2-627B-E524A1EF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carousel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DDC9955-BE0C-6EEE-ED7E-7CADBB0BF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5072477" cy="417195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Tanári</a:t>
            </a: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dashboard (3 </a:t>
            </a: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kártya</a:t>
            </a: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Legutóbbi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adott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Házi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kiadása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Legutóbbi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üzenetek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C10982E2-8D4F-291D-FA40-1E017D1E5CF1}"/>
              </a:ext>
            </a:extLst>
          </p:cNvPr>
          <p:cNvSpPr txBox="1">
            <a:spLocks/>
          </p:cNvSpPr>
          <p:nvPr/>
        </p:nvSpPr>
        <p:spPr>
          <a:xfrm>
            <a:off x="6195080" y="2076450"/>
            <a:ext cx="5072477" cy="41719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dashboard (3 </a:t>
            </a:r>
            <a:r>
              <a:rPr lang="en-US" sz="32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kártya</a:t>
            </a: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Legutóbbi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kapott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Kiadott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házi</a:t>
            </a: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endParaRPr lang="en-US" sz="28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28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Üzenetek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38386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694B-37CD-1829-CE5C-5215853A2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F37CC8-1DD2-F784-24E2-F359977C3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Házi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3748328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4A9DB-393F-D7F1-BEBE-FFB7A28C2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2C81DD-4E27-062D-010D-F0565521B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Házi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A74DC3-9C76-0657-F841-A02320F4B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17195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6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Folyamat</a:t>
            </a: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514350" indent="-514350">
              <a:lnSpc>
                <a:spcPct val="140000"/>
              </a:lnSpc>
              <a:buSzPct val="100000"/>
              <a:buFont typeface="+mj-lt"/>
              <a:buAutoNum type="arabicPeriod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kiad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feladatot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homework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submissions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sorok</a:t>
            </a:r>
            <a:endParaRPr lang="en-US" sz="3200" dirty="0">
              <a:solidFill>
                <a:schemeClr val="tx1"/>
              </a:solidFill>
            </a:endParaRPr>
          </a:p>
          <a:p>
            <a:pPr marL="514350" indent="-514350">
              <a:lnSpc>
                <a:spcPct val="140000"/>
              </a:lnSpc>
              <a:buSzPct val="100000"/>
              <a:buFont typeface="+mj-lt"/>
              <a:buAutoNum type="arabicPeriod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beadja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status = submitted</a:t>
            </a:r>
            <a:endParaRPr lang="en-US" sz="3200" dirty="0">
              <a:solidFill>
                <a:schemeClr val="tx1"/>
              </a:solidFill>
            </a:endParaRPr>
          </a:p>
          <a:p>
            <a:pPr marL="514350" indent="-514350">
              <a:lnSpc>
                <a:spcPct val="140000"/>
              </a:lnSpc>
              <a:buSzPct val="100000"/>
              <a:buFont typeface="+mj-lt"/>
              <a:buAutoNum type="arabicPeriod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elfogadja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status = accepted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11022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F91D9-20AC-20DF-C7E0-6245D5F8A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54F522-CC48-1DFA-3B47-B2F04428E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5266597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126A4-00A3-E496-E950-EDAA341F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5F3A89-4913-F823-F7F8-FB71085A5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3" y="189738"/>
            <a:ext cx="4871309" cy="1257300"/>
          </a:xfrm>
        </p:spPr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B2072F6-7CB9-C2A6-C98A-955AE3A54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469" y="2218562"/>
            <a:ext cx="5072477" cy="3718941"/>
          </a:xfrm>
        </p:spPr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</a:t>
            </a: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Értékelések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(/grades)</a:t>
            </a:r>
            <a:endParaRPr lang="en-US" sz="20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tantárgyanként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bontásban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(12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hónapra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oszlik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Szűrés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típus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szerint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felelet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dolgozat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házi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</a:t>
            </a:r>
            <a:endParaRPr lang="en-US" sz="18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Súlyozott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átlag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automatikus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számítás</a:t>
            </a:r>
            <a:endParaRPr lang="en-US" sz="18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Félévi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évközi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jegyek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külön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jelölve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is_final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mező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921D12DA-2B4B-2478-0482-40BAD250B087}"/>
              </a:ext>
            </a:extLst>
          </p:cNvPr>
          <p:cNvSpPr txBox="1">
            <a:spLocks/>
          </p:cNvSpPr>
          <p:nvPr/>
        </p:nvSpPr>
        <p:spPr>
          <a:xfrm>
            <a:off x="6096000" y="336042"/>
            <a:ext cx="5072477" cy="309295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55000" lnSpcReduction="2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1200"/>
              </a:spcAft>
              <a:buNone/>
            </a:pP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Házi </a:t>
            </a:r>
            <a:r>
              <a:rPr lang="en-US" sz="36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r>
              <a:rPr lang="en-US" sz="3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(/tasks)</a:t>
            </a:r>
            <a:endParaRPr lang="en-US" sz="36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40000"/>
              </a:lnSpc>
              <a:buSzPct val="100000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Kiadott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feladatok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listája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határidőkkel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rendezve</a:t>
            </a:r>
            <a:endParaRPr lang="en-US" sz="32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40000"/>
              </a:lnSpc>
              <a:buSzPct val="100000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Státusz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Folyamatban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Ellenőrzés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alatt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Kész</a:t>
            </a:r>
            <a:endParaRPr lang="en-US" sz="32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40000"/>
              </a:lnSpc>
              <a:buSzPct val="100000"/>
            </a:pP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gombos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beadás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(status: pending → submitted)</a:t>
            </a:r>
            <a:endParaRPr lang="en-US" sz="3200" dirty="0">
              <a:solidFill>
                <a:schemeClr val="tx1"/>
              </a:solidFill>
            </a:endParaRPr>
          </a:p>
          <a:p>
            <a:pPr marL="457200" indent="-457200">
              <a:lnSpc>
                <a:spcPct val="140000"/>
              </a:lnSpc>
              <a:buSzPct val="100000"/>
            </a:pP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Elfogadott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törölhető</a:t>
            </a:r>
            <a:r>
              <a:rPr lang="en-US" sz="3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32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listából</a:t>
            </a:r>
            <a:endParaRPr lang="en-US" sz="3200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artalom helye 2">
            <a:extLst>
              <a:ext uri="{FF2B5EF4-FFF2-40B4-BE49-F238E27FC236}">
                <a16:creationId xmlns:a16="http://schemas.microsoft.com/office/drawing/2014/main" id="{5B1C4614-DCA3-3A62-A6C3-E887B835203B}"/>
              </a:ext>
            </a:extLst>
          </p:cNvPr>
          <p:cNvSpPr txBox="1">
            <a:spLocks/>
          </p:cNvSpPr>
          <p:nvPr/>
        </p:nvSpPr>
        <p:spPr>
          <a:xfrm>
            <a:off x="6096000" y="3765042"/>
            <a:ext cx="4871309" cy="275691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12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</a:t>
            </a:r>
            <a:r>
              <a:rPr lang="en-US" sz="2000" b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Üzenetek</a:t>
            </a: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(/messages)</a:t>
            </a:r>
            <a:endParaRPr lang="en-US" sz="20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tanár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kommunikáció</a:t>
            </a:r>
            <a:endParaRPr lang="en-US" sz="18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Bejövő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kiküldött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üzenetek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külön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lapon</a:t>
            </a:r>
            <a:endParaRPr lang="en-US" sz="18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Olvasott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státusz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is_read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>
              <a:solidFill>
                <a:schemeClr val="tx1"/>
              </a:solidFill>
            </a:endParaRPr>
          </a:p>
          <a:p>
            <a:pPr indent="-342900">
              <a:lnSpc>
                <a:spcPct val="140000"/>
              </a:lnSpc>
              <a:buSzPct val="100000"/>
            </a:pP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írása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egyszerű</a:t>
            </a: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formból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0607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4C3F-89CB-1497-6DC5-67A8B71D0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F26382-2998-4CAF-39B3-80EBF22CE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 fontScale="90000"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Prisma ORM + MySQL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0526036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B07D5-C92E-5960-30A9-496CB7EED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B20662-D91F-DA3A-75B3-609444CE8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4236"/>
            <a:ext cx="10353762" cy="1257300"/>
          </a:xfrm>
        </p:spPr>
        <p:txBody>
          <a:bodyPr>
            <a:normAutofit/>
          </a:bodyPr>
          <a:lstStyle/>
          <a:p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Prisma ORM + MySQL</a:t>
            </a:r>
            <a:endParaRPr lang="en-US" sz="48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B446ED1-4632-E3A3-C6F0-F60F7929A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847" y="1684020"/>
            <a:ext cx="5072477" cy="480974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</a:p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subjects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student_classes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z="32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teacher_subjects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7EEAF2EE-A1B6-725E-E169-CD4F63B06FD6}"/>
              </a:ext>
            </a:extLst>
          </p:cNvPr>
          <p:cNvSpPr txBox="1">
            <a:spLocks/>
          </p:cNvSpPr>
          <p:nvPr/>
        </p:nvSpPr>
        <p:spPr>
          <a:xfrm>
            <a:off x="6310132" y="1684020"/>
            <a:ext cx="5072477" cy="48097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absences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homework</a:t>
            </a:r>
            <a:endParaRPr lang="en-US" sz="3200" dirty="0">
              <a:solidFill>
                <a:schemeClr val="tx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200" b="1" dirty="0" err="1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homework_submissions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44235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BE268-5CC6-66E7-616C-F0CB0B60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1BB344-7819-24CA-C8B5-B7C29B12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800350"/>
            <a:ext cx="10353762" cy="1257300"/>
          </a:xfrm>
        </p:spPr>
        <p:txBody>
          <a:bodyPr>
            <a:normAutofit/>
          </a:bodyPr>
          <a:lstStyle/>
          <a:p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Köszönjük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6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figyelmet</a:t>
            </a: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914727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3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4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5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{4B8A2F1B-A8E4-492A-93E9-9C491BDF395B}TFe742eee6-54b3-45e8-a03d-f3d997f9b6caf6c338c2_win32-3734725ae7e2</Template>
  <TotalTime>114</TotalTime>
  <Words>891</Words>
  <Application>Microsoft Office PowerPoint</Application>
  <PresentationFormat>Szélesvásznú</PresentationFormat>
  <Paragraphs>175</Paragraphs>
  <Slides>30</Slides>
  <Notes>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30</vt:i4>
      </vt:variant>
    </vt:vector>
  </HeadingPairs>
  <TitlesOfParts>
    <vt:vector size="36" baseType="lpstr">
      <vt:lpstr>Calibri</vt:lpstr>
      <vt:lpstr>Calibri Light</vt:lpstr>
      <vt:lpstr>Consolas</vt:lpstr>
      <vt:lpstr>Goudy Old Style</vt:lpstr>
      <vt:lpstr>Wingdings 2</vt:lpstr>
      <vt:lpstr>SlateVTI</vt:lpstr>
      <vt:lpstr>ETR</vt:lpstr>
      <vt:lpstr>Webalapú iskolai adminisztrációs rendszer</vt:lpstr>
      <vt:lpstr>Miért csináltuk?</vt:lpstr>
      <vt:lpstr>Miért csináltuk?</vt:lpstr>
      <vt:lpstr>Miért csináltuk?</vt:lpstr>
      <vt:lpstr>Használt technológiák</vt:lpstr>
      <vt:lpstr>Használt technológiák</vt:lpstr>
      <vt:lpstr>Architektúra és mappastruktúra</vt:lpstr>
      <vt:lpstr>Architektúra és mappastruktúra</vt:lpstr>
      <vt:lpstr>Session kezelés</vt:lpstr>
      <vt:lpstr>Session kezelés</vt:lpstr>
      <vt:lpstr>Ki mit lát?</vt:lpstr>
      <vt:lpstr>Ki mit lát?</vt:lpstr>
      <vt:lpstr>🎓  Diák</vt:lpstr>
      <vt:lpstr>👨‍🏫  Tanár</vt:lpstr>
      <vt:lpstr>⚙️  Admin</vt:lpstr>
      <vt:lpstr>Admin felület</vt:lpstr>
      <vt:lpstr>Admin felület</vt:lpstr>
      <vt:lpstr>Admin felület</vt:lpstr>
      <vt:lpstr>Tanári felület</vt:lpstr>
      <vt:lpstr>Tanári felület</vt:lpstr>
      <vt:lpstr>Dashboard carousel rendszer</vt:lpstr>
      <vt:lpstr>Dashboard carousel rendszer</vt:lpstr>
      <vt:lpstr>Házi feladat rendszer</vt:lpstr>
      <vt:lpstr>Házi feladat rendszer</vt:lpstr>
      <vt:lpstr>Diák felület</vt:lpstr>
      <vt:lpstr>Diák felület</vt:lpstr>
      <vt:lpstr>Adatbázis – Prisma ORM + MySQL</vt:lpstr>
      <vt:lpstr>Adatbázis – Prisma ORM + MySQL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Balazs Toth</dc:creator>
  <cp:lastModifiedBy>Balazs Toth</cp:lastModifiedBy>
  <cp:revision>42</cp:revision>
  <dcterms:created xsi:type="dcterms:W3CDTF">2026-02-24T17:54:05Z</dcterms:created>
  <dcterms:modified xsi:type="dcterms:W3CDTF">2026-02-24T20:03:32Z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